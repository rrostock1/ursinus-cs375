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9" r:id="rId3"/>
    <p:sldId id="261" r:id="rId4"/>
    <p:sldId id="260" r:id="rId5"/>
    <p:sldId id="267" r:id="rId6"/>
    <p:sldId id="268" r:id="rId7"/>
    <p:sldId id="266" r:id="rId8"/>
    <p:sldId id="270" r:id="rId9"/>
    <p:sldId id="269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0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96DD31-F5A9-4994-81FD-39AB5D14D601}" v="50" dt="2026-01-24T22:37:52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2" d="100"/>
          <a:sy n="122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lph Rostock" userId="ba6839b1feebeabf" providerId="LiveId" clId="{282AAF5D-1F48-4FCF-8602-3B494CE1C290}"/>
    <pc:docChg chg="undo redo custSel addSld modSld sldOrd">
      <pc:chgData name="Ralph Rostock" userId="ba6839b1feebeabf" providerId="LiveId" clId="{282AAF5D-1F48-4FCF-8602-3B494CE1C290}" dt="2026-01-24T23:01:33.241" v="1563"/>
      <pc:docMkLst>
        <pc:docMk/>
      </pc:docMkLst>
      <pc:sldChg chg="modSp mod">
        <pc:chgData name="Ralph Rostock" userId="ba6839b1feebeabf" providerId="LiveId" clId="{282AAF5D-1F48-4FCF-8602-3B494CE1C290}" dt="2026-01-24T21:45:44.617" v="158" actId="6549"/>
        <pc:sldMkLst>
          <pc:docMk/>
          <pc:sldMk cId="3445320646" sldId="256"/>
        </pc:sldMkLst>
        <pc:spChg chg="mod">
          <ac:chgData name="Ralph Rostock" userId="ba6839b1feebeabf" providerId="LiveId" clId="{282AAF5D-1F48-4FCF-8602-3B494CE1C290}" dt="2026-01-24T21:45:44.617" v="158" actId="6549"/>
          <ac:spMkLst>
            <pc:docMk/>
            <pc:sldMk cId="3445320646" sldId="256"/>
            <ac:spMk id="2" creationId="{A80823D0-3086-77A2-5B1D-C40FD2777FEE}"/>
          </ac:spMkLst>
        </pc:spChg>
      </pc:sldChg>
      <pc:sldChg chg="modSp mod">
        <pc:chgData name="Ralph Rostock" userId="ba6839b1feebeabf" providerId="LiveId" clId="{282AAF5D-1F48-4FCF-8602-3B494CE1C290}" dt="2026-01-24T21:58:52.998" v="571" actId="20577"/>
        <pc:sldMkLst>
          <pc:docMk/>
          <pc:sldMk cId="1639681357" sldId="259"/>
        </pc:sldMkLst>
        <pc:spChg chg="mod">
          <ac:chgData name="Ralph Rostock" userId="ba6839b1feebeabf" providerId="LiveId" clId="{282AAF5D-1F48-4FCF-8602-3B494CE1C290}" dt="2026-01-24T21:58:52.998" v="571" actId="20577"/>
          <ac:spMkLst>
            <pc:docMk/>
            <pc:sldMk cId="1639681357" sldId="259"/>
            <ac:spMk id="2" creationId="{FB5CDBBB-DADA-223E-6E55-D8234D44E5CC}"/>
          </ac:spMkLst>
        </pc:spChg>
        <pc:spChg chg="mod">
          <ac:chgData name="Ralph Rostock" userId="ba6839b1feebeabf" providerId="LiveId" clId="{282AAF5D-1F48-4FCF-8602-3B494CE1C290}" dt="2026-01-24T21:49:35.142" v="224" actId="20577"/>
          <ac:spMkLst>
            <pc:docMk/>
            <pc:sldMk cId="1639681357" sldId="259"/>
            <ac:spMk id="3" creationId="{3F6711FD-2374-EB88-3C5B-CDF8370DF9C6}"/>
          </ac:spMkLst>
        </pc:spChg>
      </pc:sldChg>
      <pc:sldChg chg="addSp delSp modSp mod setBg modNotesTx">
        <pc:chgData name="Ralph Rostock" userId="ba6839b1feebeabf" providerId="LiveId" clId="{282AAF5D-1F48-4FCF-8602-3B494CE1C290}" dt="2026-01-24T22:22:43" v="690"/>
        <pc:sldMkLst>
          <pc:docMk/>
          <pc:sldMk cId="1706386405" sldId="260"/>
        </pc:sldMkLst>
        <pc:spChg chg="mod">
          <ac:chgData name="Ralph Rostock" userId="ba6839b1feebeabf" providerId="LiveId" clId="{282AAF5D-1F48-4FCF-8602-3B494CE1C290}" dt="2026-01-24T22:22:17.944" v="670" actId="20577"/>
          <ac:spMkLst>
            <pc:docMk/>
            <pc:sldMk cId="1706386405" sldId="260"/>
            <ac:spMk id="2" creationId="{1C4A0673-59DF-4392-59F0-1F05DF74E325}"/>
          </ac:spMkLst>
        </pc:spChg>
        <pc:spChg chg="mod">
          <ac:chgData name="Ralph Rostock" userId="ba6839b1feebeabf" providerId="LiveId" clId="{282AAF5D-1F48-4FCF-8602-3B494CE1C290}" dt="2026-01-24T22:08:14.746" v="630" actId="14100"/>
          <ac:spMkLst>
            <pc:docMk/>
            <pc:sldMk cId="1706386405" sldId="260"/>
            <ac:spMk id="4" creationId="{B9567DD4-B3C5-EA0B-99D0-61BBA3367ECA}"/>
          </ac:spMkLst>
        </pc:spChg>
        <pc:picChg chg="add del mod">
          <ac:chgData name="Ralph Rostock" userId="ba6839b1feebeabf" providerId="LiveId" clId="{282AAF5D-1F48-4FCF-8602-3B494CE1C290}" dt="2026-01-24T22:13:30.131" v="655" actId="14826"/>
          <ac:picMkLst>
            <pc:docMk/>
            <pc:sldMk cId="1706386405" sldId="260"/>
            <ac:picMk id="3" creationId="{B1A373B6-AEA9-2411-3A81-57F8BD3B429D}"/>
          </ac:picMkLst>
        </pc:picChg>
      </pc:sldChg>
      <pc:sldChg chg="modSp mod">
        <pc:chgData name="Ralph Rostock" userId="ba6839b1feebeabf" providerId="LiveId" clId="{282AAF5D-1F48-4FCF-8602-3B494CE1C290}" dt="2026-01-24T22:26:02.321" v="747" actId="1076"/>
        <pc:sldMkLst>
          <pc:docMk/>
          <pc:sldMk cId="1647570786" sldId="261"/>
        </pc:sldMkLst>
        <pc:spChg chg="mod">
          <ac:chgData name="Ralph Rostock" userId="ba6839b1feebeabf" providerId="LiveId" clId="{282AAF5D-1F48-4FCF-8602-3B494CE1C290}" dt="2026-01-24T22:26:02.321" v="747" actId="1076"/>
          <ac:spMkLst>
            <pc:docMk/>
            <pc:sldMk cId="1647570786" sldId="261"/>
            <ac:spMk id="2" creationId="{FB5CDBBB-DADA-223E-6E55-D8234D44E5CC}"/>
          </ac:spMkLst>
        </pc:spChg>
      </pc:sldChg>
      <pc:sldChg chg="modSp add mod ord">
        <pc:chgData name="Ralph Rostock" userId="ba6839b1feebeabf" providerId="LiveId" clId="{282AAF5D-1F48-4FCF-8602-3B494CE1C290}" dt="2026-01-24T23:01:33.241" v="1563"/>
        <pc:sldMkLst>
          <pc:docMk/>
          <pc:sldMk cId="3918630640" sldId="266"/>
        </pc:sldMkLst>
        <pc:spChg chg="mod">
          <ac:chgData name="Ralph Rostock" userId="ba6839b1feebeabf" providerId="LiveId" clId="{282AAF5D-1F48-4FCF-8602-3B494CE1C290}" dt="2026-01-24T22:52:23.108" v="1060" actId="20577"/>
          <ac:spMkLst>
            <pc:docMk/>
            <pc:sldMk cId="3918630640" sldId="266"/>
            <ac:spMk id="2" creationId="{4149069F-E3CA-F7D3-56F8-587E85C36E1B}"/>
          </ac:spMkLst>
        </pc:spChg>
        <pc:spChg chg="mod">
          <ac:chgData name="Ralph Rostock" userId="ba6839b1feebeabf" providerId="LiveId" clId="{282AAF5D-1F48-4FCF-8602-3B494CE1C290}" dt="2026-01-24T22:47:41.709" v="936" actId="20577"/>
          <ac:spMkLst>
            <pc:docMk/>
            <pc:sldMk cId="3918630640" sldId="266"/>
            <ac:spMk id="3" creationId="{3E4DEA44-9159-2923-FC97-D3169A7E4ADF}"/>
          </ac:spMkLst>
        </pc:spChg>
      </pc:sldChg>
      <pc:sldChg chg="addSp modSp add mod">
        <pc:chgData name="Ralph Rostock" userId="ba6839b1feebeabf" providerId="LiveId" clId="{282AAF5D-1F48-4FCF-8602-3B494CE1C290}" dt="2026-01-24T22:30:20.365" v="810" actId="6549"/>
        <pc:sldMkLst>
          <pc:docMk/>
          <pc:sldMk cId="3596661696" sldId="267"/>
        </pc:sldMkLst>
        <pc:spChg chg="mod">
          <ac:chgData name="Ralph Rostock" userId="ba6839b1feebeabf" providerId="LiveId" clId="{282AAF5D-1F48-4FCF-8602-3B494CE1C290}" dt="2026-01-24T22:30:20.365" v="810" actId="6549"/>
          <ac:spMkLst>
            <pc:docMk/>
            <pc:sldMk cId="3596661696" sldId="267"/>
            <ac:spMk id="2" creationId="{D3619321-AC60-E805-367B-49197B74D0B3}"/>
          </ac:spMkLst>
        </pc:spChg>
        <pc:spChg chg="mod">
          <ac:chgData name="Ralph Rostock" userId="ba6839b1feebeabf" providerId="LiveId" clId="{282AAF5D-1F48-4FCF-8602-3B494CE1C290}" dt="2026-01-24T22:24:30.794" v="720" actId="14100"/>
          <ac:spMkLst>
            <pc:docMk/>
            <pc:sldMk cId="3596661696" sldId="267"/>
            <ac:spMk id="4" creationId="{0D314B55-9096-E7C7-6603-7D7F5E5D0F15}"/>
          </ac:spMkLst>
        </pc:spChg>
        <pc:spChg chg="add mod">
          <ac:chgData name="Ralph Rostock" userId="ba6839b1feebeabf" providerId="LiveId" clId="{282AAF5D-1F48-4FCF-8602-3B494CE1C290}" dt="2026-01-24T22:25:49.685" v="746"/>
          <ac:spMkLst>
            <pc:docMk/>
            <pc:sldMk cId="3596661696" sldId="267"/>
            <ac:spMk id="5" creationId="{38175B03-EFE3-6482-6E1C-EEADA0ADB019}"/>
          </ac:spMkLst>
        </pc:spChg>
      </pc:sldChg>
      <pc:sldChg chg="addSp delSp modSp add mod ord modNotesTx">
        <pc:chgData name="Ralph Rostock" userId="ba6839b1feebeabf" providerId="LiveId" clId="{282AAF5D-1F48-4FCF-8602-3B494CE1C290}" dt="2026-01-24T22:38:25.772" v="892" actId="1076"/>
        <pc:sldMkLst>
          <pc:docMk/>
          <pc:sldMk cId="3294474550" sldId="268"/>
        </pc:sldMkLst>
        <pc:spChg chg="add del mod">
          <ac:chgData name="Ralph Rostock" userId="ba6839b1feebeabf" providerId="LiveId" clId="{282AAF5D-1F48-4FCF-8602-3B494CE1C290}" dt="2026-01-24T22:36:19.817" v="885" actId="313"/>
          <ac:spMkLst>
            <pc:docMk/>
            <pc:sldMk cId="3294474550" sldId="268"/>
            <ac:spMk id="2" creationId="{1BD1062A-BD07-B297-F75C-3D53CFD60FD7}"/>
          </ac:spMkLst>
        </pc:spChg>
        <pc:spChg chg="mod">
          <ac:chgData name="Ralph Rostock" userId="ba6839b1feebeabf" providerId="LiveId" clId="{282AAF5D-1F48-4FCF-8602-3B494CE1C290}" dt="2026-01-24T22:32:29.545" v="839" actId="14100"/>
          <ac:spMkLst>
            <pc:docMk/>
            <pc:sldMk cId="3294474550" sldId="268"/>
            <ac:spMk id="4" creationId="{EF7E2D83-F16E-8358-1F08-32DAB08BDA4F}"/>
          </ac:spMkLst>
        </pc:spChg>
        <pc:spChg chg="add mod">
          <ac:chgData name="Ralph Rostock" userId="ba6839b1feebeabf" providerId="LiveId" clId="{282AAF5D-1F48-4FCF-8602-3B494CE1C290}" dt="2026-01-24T22:38:18.006" v="891" actId="6549"/>
          <ac:spMkLst>
            <pc:docMk/>
            <pc:sldMk cId="3294474550" sldId="268"/>
            <ac:spMk id="5" creationId="{2D93C027-8D9B-3096-D96E-3435D38A3C0B}"/>
          </ac:spMkLst>
        </pc:spChg>
        <pc:picChg chg="mod">
          <ac:chgData name="Ralph Rostock" userId="ba6839b1feebeabf" providerId="LiveId" clId="{282AAF5D-1F48-4FCF-8602-3B494CE1C290}" dt="2026-01-24T22:38:25.772" v="892" actId="1076"/>
          <ac:picMkLst>
            <pc:docMk/>
            <pc:sldMk cId="3294474550" sldId="268"/>
            <ac:picMk id="3" creationId="{56AD2372-65E4-0B67-1154-DB73B3F3782B}"/>
          </ac:picMkLst>
        </pc:picChg>
      </pc:sldChg>
      <pc:sldChg chg="add ord">
        <pc:chgData name="Ralph Rostock" userId="ba6839b1feebeabf" providerId="LiveId" clId="{282AAF5D-1F48-4FCF-8602-3B494CE1C290}" dt="2026-01-24T22:47:19.630" v="897"/>
        <pc:sldMkLst>
          <pc:docMk/>
          <pc:sldMk cId="4260659105" sldId="269"/>
        </pc:sldMkLst>
      </pc:sldChg>
      <pc:sldChg chg="modSp add mod ord">
        <pc:chgData name="Ralph Rostock" userId="ba6839b1feebeabf" providerId="LiveId" clId="{282AAF5D-1F48-4FCF-8602-3B494CE1C290}" dt="2026-01-24T23:01:28.978" v="1561"/>
        <pc:sldMkLst>
          <pc:docMk/>
          <pc:sldMk cId="4258125003" sldId="270"/>
        </pc:sldMkLst>
        <pc:spChg chg="mod">
          <ac:chgData name="Ralph Rostock" userId="ba6839b1feebeabf" providerId="LiveId" clId="{282AAF5D-1F48-4FCF-8602-3B494CE1C290}" dt="2026-01-24T22:59:05.549" v="1559" actId="113"/>
          <ac:spMkLst>
            <pc:docMk/>
            <pc:sldMk cId="4258125003" sldId="270"/>
            <ac:spMk id="2" creationId="{82DD7BE3-E4BE-82CF-B7DF-4FD7C6F51A32}"/>
          </ac:spMkLst>
        </pc:spChg>
        <pc:spChg chg="mod">
          <ac:chgData name="Ralph Rostock" userId="ba6839b1feebeabf" providerId="LiveId" clId="{282AAF5D-1F48-4FCF-8602-3B494CE1C290}" dt="2026-01-24T22:54:14.225" v="1086" actId="20577"/>
          <ac:spMkLst>
            <pc:docMk/>
            <pc:sldMk cId="4258125003" sldId="270"/>
            <ac:spMk id="3" creationId="{49BB50E5-E33A-C711-119D-B8A84A04CD6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B6344-04C4-1F16-CCE5-AEF3F5D210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B499F-B73D-8F16-4DF5-578CD8375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6FC78-0E5D-4497-88DB-D395E4EBF0A7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8A174-F328-249D-5575-E89D9F04FD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C69F-1595-7406-EC61-85E4B55A9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6FD6B-8DAD-4E11-A906-3C6657CE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7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1FBF-2C10-463B-A9CD-21751375938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95D3-4065-4FF4-B09D-A2BC0DE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8080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https://ccecc.acm.org/guidance/software-engineering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C95D3-4065-4FF4-B09D-A2BC0DE7D1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22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1E6F0-4EB3-FFA2-345E-588FC56E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D94158-EE16-DBE0-924F-FCC8A76BE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71CA0-9C77-79CC-35FB-C5E98A745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https://ccecc.acm.org/guidance/software-engineering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60BEA-17E3-9CC3-1A0B-9A648FDD0D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AF934-EDA2-C098-8534-3E770FB40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C95D3-4065-4FF4-B09D-A2BC0DE7D1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89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349F4-DFA4-76A9-87E7-2A009C1E7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172D2-3B69-0D06-D590-AEF22D61C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1AA08-5102-BDF3-4894-027660EFE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https://ieeexplore.ieee.org/document/5387924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1C9BB-79C7-409C-98EE-723123031C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0CF26-EC08-6C47-7944-FC8A44216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C95D3-4065-4FF4-B09D-A2BC0DE7D1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76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frame with red and yellow symbols&#10;&#10;Description automatically generated">
            <a:extLst>
              <a:ext uri="{FF2B5EF4-FFF2-40B4-BE49-F238E27FC236}">
                <a16:creationId xmlns:a16="http://schemas.microsoft.com/office/drawing/2014/main" id="{63288AF2-F595-56C5-C2A3-660803476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7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rectangular frame with a red border&#10;&#10;Description automatically generated">
            <a:extLst>
              <a:ext uri="{FF2B5EF4-FFF2-40B4-BE49-F238E27FC236}">
                <a16:creationId xmlns:a16="http://schemas.microsoft.com/office/drawing/2014/main" id="{196A96C2-9378-38F6-7F06-6907ED33AA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frame with a white background&#10;&#10;Description automatically generated">
            <a:extLst>
              <a:ext uri="{FF2B5EF4-FFF2-40B4-BE49-F238E27FC236}">
                <a16:creationId xmlns:a16="http://schemas.microsoft.com/office/drawing/2014/main" id="{1CA75341-F98F-7DFC-8544-30313E5C9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white card with a letter u&#10;&#10;Description automatically generated">
            <a:extLst>
              <a:ext uri="{FF2B5EF4-FFF2-40B4-BE49-F238E27FC236}">
                <a16:creationId xmlns:a16="http://schemas.microsoft.com/office/drawing/2014/main" id="{5A69D7CA-6D91-248C-D2CB-1013FE94F5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yellow rectangular frame&#10;&#10;Description automatically generated">
            <a:extLst>
              <a:ext uri="{FF2B5EF4-FFF2-40B4-BE49-F238E27FC236}">
                <a16:creationId xmlns:a16="http://schemas.microsoft.com/office/drawing/2014/main" id="{07A77D1D-AE1A-0A91-15CB-D4BAB7774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0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4E209B1E-2F0F-5371-B4F1-CBD324FD1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5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D92AC7D5-1BF8-52A4-D918-E71A9061ED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18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universityinnovation.org/wiki/School:KKR_and_KSR_Institute_of_Technology_and_Sciences" TargetMode="Externa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universityinnovation.org/wiki/School:KKR_and_KSR_Institute_of_Technology_and_Sciences" TargetMode="Externa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embarcados.com.br/padrao-ieee-802-15-4/" TargetMode="Externa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823D0-3086-77A2-5B1D-C40FD2777FEE}"/>
              </a:ext>
            </a:extLst>
          </p:cNvPr>
          <p:cNvSpPr txBox="1"/>
          <p:nvPr/>
        </p:nvSpPr>
        <p:spPr>
          <a:xfrm>
            <a:off x="2207505" y="3059668"/>
            <a:ext cx="7777001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CS375 Spring 2026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Ralph Rostock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</a:rPr>
              <a:t>Week 1</a:t>
            </a:r>
          </a:p>
          <a:p>
            <a:pPr algn="ctr"/>
            <a:r>
              <a:rPr lang="en-US" sz="2400" b="1" dirty="0">
                <a:solidFill>
                  <a:srgbClr val="97012E"/>
                </a:solidFill>
                <a:latin typeface="Druk Heavy" pitchFamily="2" charset="77"/>
              </a:rPr>
              <a:t>Course Overview and Introduction to Software Engineering </a:t>
            </a:r>
            <a:b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br>
              <a:rPr lang="en-US" sz="4000" dirty="0">
                <a:solidFill>
                  <a:schemeClr val="bg1"/>
                </a:solidFill>
                <a:latin typeface="Oak Sans" pitchFamily="2" charset="77"/>
              </a:rPr>
            </a:br>
            <a:endParaRPr lang="en-US" sz="4000" dirty="0">
              <a:solidFill>
                <a:schemeClr val="bg1"/>
              </a:solidFill>
              <a:latin typeface="Oa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5320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5CDBBB-DADA-223E-6E55-D8234D44E5CC}"/>
              </a:ext>
            </a:extLst>
          </p:cNvPr>
          <p:cNvSpPr txBox="1"/>
          <p:nvPr/>
        </p:nvSpPr>
        <p:spPr>
          <a:xfrm>
            <a:off x="1574358" y="2949934"/>
            <a:ext cx="770766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Course Number and Title: CS-375 – Software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Credit Hours: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Academic Term: Spring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Course Prerequisite: CS-371 Data Structures and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Class Meeting Location and Times: Thursday from 7:00 PM to 9:40 PM, PFA 107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Office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Final Exam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711FD-2374-EB88-3C5B-CDF8370DF9C6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Course Overview</a:t>
            </a:r>
          </a:p>
        </p:txBody>
      </p:sp>
    </p:spTree>
    <p:extLst>
      <p:ext uri="{BB962C8B-B14F-4D97-AF65-F5344CB8AC3E}">
        <p14:creationId xmlns:p14="http://schemas.microsoft.com/office/powerpoint/2010/main" val="1639681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5CDBBB-DADA-223E-6E55-D8234D44E5CC}"/>
              </a:ext>
            </a:extLst>
          </p:cNvPr>
          <p:cNvSpPr txBox="1"/>
          <p:nvPr/>
        </p:nvSpPr>
        <p:spPr>
          <a:xfrm>
            <a:off x="1574358" y="2949934"/>
            <a:ext cx="29135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711FD-2374-EB88-3C5B-CDF8370DF9C6}"/>
              </a:ext>
            </a:extLst>
          </p:cNvPr>
          <p:cNvSpPr txBox="1"/>
          <p:nvPr/>
        </p:nvSpPr>
        <p:spPr>
          <a:xfrm>
            <a:off x="574839" y="1729458"/>
            <a:ext cx="51416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HEADLINE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24648-704C-AF10-C158-CD594F34E854}"/>
              </a:ext>
            </a:extLst>
          </p:cNvPr>
          <p:cNvSpPr txBox="1"/>
          <p:nvPr/>
        </p:nvSpPr>
        <p:spPr>
          <a:xfrm>
            <a:off x="7859545" y="2949934"/>
            <a:ext cx="35441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BA786-F190-A415-2D4F-A7D9259E1825}"/>
              </a:ext>
            </a:extLst>
          </p:cNvPr>
          <p:cNvSpPr txBox="1"/>
          <p:nvPr/>
        </p:nvSpPr>
        <p:spPr>
          <a:xfrm>
            <a:off x="6860026" y="1729458"/>
            <a:ext cx="46382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HEADLINE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A90899-F75E-99A2-D079-771153A2C01D}"/>
              </a:ext>
            </a:extLst>
          </p:cNvPr>
          <p:cNvCxnSpPr>
            <a:cxnSpLocks/>
          </p:cNvCxnSpPr>
          <p:nvPr/>
        </p:nvCxnSpPr>
        <p:spPr>
          <a:xfrm>
            <a:off x="6159063" y="1429407"/>
            <a:ext cx="0" cy="46035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570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4A0673-59DF-4392-59F0-1F05DF74E325}"/>
              </a:ext>
            </a:extLst>
          </p:cNvPr>
          <p:cNvSpPr txBox="1"/>
          <p:nvPr/>
        </p:nvSpPr>
        <p:spPr>
          <a:xfrm>
            <a:off x="1328285" y="2751154"/>
            <a:ext cx="564040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“…software engineering requires both the analytical</a:t>
            </a:r>
          </a:p>
          <a:p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and descriptive tools developed in computer</a:t>
            </a:r>
          </a:p>
          <a:p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science and the rigor that the engineering </a:t>
            </a:r>
          </a:p>
          <a:p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disciplines bring to the reliability and </a:t>
            </a:r>
          </a:p>
          <a:p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trustworthiness of the systems that software </a:t>
            </a:r>
          </a:p>
          <a:p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developers design and implement while </a:t>
            </a:r>
          </a:p>
          <a:p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working cohesively in a team environment.”</a:t>
            </a:r>
            <a:endParaRPr lang="en-US" sz="2200" baseline="30000" dirty="0">
              <a:solidFill>
                <a:schemeClr val="bg1"/>
              </a:solidFill>
              <a:latin typeface="Oak Sans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A373B6-AEA9-2411-3A81-57F8BD3B4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7365548" y="1860605"/>
            <a:ext cx="3429000" cy="3429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567DD4-B3C5-EA0B-99D0-61BBA3367ECA}"/>
              </a:ext>
            </a:extLst>
          </p:cNvPr>
          <p:cNvSpPr txBox="1"/>
          <p:nvPr/>
        </p:nvSpPr>
        <p:spPr>
          <a:xfrm>
            <a:off x="574838" y="1729458"/>
            <a:ext cx="55211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ACM on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706386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E4F64-6D85-B776-9E75-8EC171BD6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619321-AC60-E805-367B-49197B74D0B3}"/>
              </a:ext>
            </a:extLst>
          </p:cNvPr>
          <p:cNvSpPr txBox="1"/>
          <p:nvPr/>
        </p:nvSpPr>
        <p:spPr>
          <a:xfrm>
            <a:off x="1328285" y="2751154"/>
            <a:ext cx="564040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Software Engineering: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Oak Sans" pitchFamily="2" charset="77"/>
              </a:rPr>
              <a:t>Must be viewed as a discipline with stronger ties to computer science than it has to other engineering fields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Oak Sans" pitchFamily="2" charset="77"/>
              </a:rPr>
              <a:t>Must share common characteristics with other engineering disciplines, including quantitative measurement, structured decision making, effective use of tools, and reusable software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Oak Sans" pitchFamily="2" charset="77"/>
              </a:rPr>
              <a:t>Must apply engineering methods and practices to the development of software, with special emphasis on the development of large software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Oak Sans" pitchFamily="2" charset="77"/>
              </a:rPr>
              <a:t>Must integrate the principles of mathematics and computer science with engineering methodologies to create extensible 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Oak Sans" pitchFamily="2" charset="77"/>
              </a:rPr>
              <a:t>Must include secure code standards and quality control concepts of manufacturing process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Oak Sans" pitchFamily="2" charset="77"/>
              </a:rPr>
              <a:t>Must emphasize communication skills, teamwork skills, and professional principles and best practices</a:t>
            </a:r>
            <a:endParaRPr lang="en-US" sz="2200" baseline="30000" dirty="0">
              <a:solidFill>
                <a:schemeClr val="bg1"/>
              </a:solidFill>
              <a:latin typeface="Oak Sans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D60592-C6AD-E740-D9A0-0AE2FEF84A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7365548" y="1860605"/>
            <a:ext cx="3429000" cy="3429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314B55-9096-E7C7-6603-7D7F5E5D0F15}"/>
              </a:ext>
            </a:extLst>
          </p:cNvPr>
          <p:cNvSpPr txBox="1"/>
          <p:nvPr/>
        </p:nvSpPr>
        <p:spPr>
          <a:xfrm>
            <a:off x="574838" y="1729458"/>
            <a:ext cx="7295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ACM on Software Engineering (continued) </a:t>
            </a:r>
          </a:p>
        </p:txBody>
      </p:sp>
    </p:spTree>
    <p:extLst>
      <p:ext uri="{BB962C8B-B14F-4D97-AF65-F5344CB8AC3E}">
        <p14:creationId xmlns:p14="http://schemas.microsoft.com/office/powerpoint/2010/main" val="3596661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6BF686-E6E0-A2AE-54DE-11608EB82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D1062A-BD07-B297-F75C-3D53CFD60FD7}"/>
              </a:ext>
            </a:extLst>
          </p:cNvPr>
          <p:cNvSpPr txBox="1"/>
          <p:nvPr/>
        </p:nvSpPr>
        <p:spPr>
          <a:xfrm>
            <a:off x="1328285" y="2751154"/>
            <a:ext cx="56404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“Software engineering may be defined as the systematic design and development of software products and the management of the software process”</a:t>
            </a:r>
            <a:endParaRPr lang="en-US" sz="2200" baseline="30000" dirty="0">
              <a:solidFill>
                <a:schemeClr val="bg1"/>
              </a:solidFill>
              <a:latin typeface="Oak Sans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AD2372-65E4-0B67-1154-DB73B3F37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7497535" y="2857500"/>
            <a:ext cx="3429000" cy="114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7E2D83-F16E-8358-1F08-32DAB08BDA4F}"/>
              </a:ext>
            </a:extLst>
          </p:cNvPr>
          <p:cNvSpPr txBox="1"/>
          <p:nvPr/>
        </p:nvSpPr>
        <p:spPr>
          <a:xfrm>
            <a:off x="574838" y="1729458"/>
            <a:ext cx="6974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IEEE definition of Software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3C027-8D9B-3096-D96E-3435D38A3C0B}"/>
              </a:ext>
            </a:extLst>
          </p:cNvPr>
          <p:cNvSpPr txBox="1"/>
          <p:nvPr/>
        </p:nvSpPr>
        <p:spPr>
          <a:xfrm>
            <a:off x="7497535" y="4146605"/>
            <a:ext cx="3429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by Unknown Author is licensed under</a:t>
            </a:r>
          </a:p>
        </p:txBody>
      </p:sp>
    </p:spTree>
    <p:extLst>
      <p:ext uri="{BB962C8B-B14F-4D97-AF65-F5344CB8AC3E}">
        <p14:creationId xmlns:p14="http://schemas.microsoft.com/office/powerpoint/2010/main" val="3294474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7EE5F-EC46-4B02-5291-A40DCDB22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49069F-E3CA-F7D3-56F8-587E85C36E1B}"/>
              </a:ext>
            </a:extLst>
          </p:cNvPr>
          <p:cNvSpPr txBox="1"/>
          <p:nvPr/>
        </p:nvSpPr>
        <p:spPr>
          <a:xfrm>
            <a:off x="1574358" y="2949934"/>
            <a:ext cx="424898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Writing Code vs Building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Scale, teams, longevity and risk</a:t>
            </a:r>
          </a:p>
          <a:p>
            <a:endParaRPr lang="en-US" sz="2200" dirty="0">
              <a:solidFill>
                <a:schemeClr val="bg1"/>
              </a:solidFill>
              <a:latin typeface="Oak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DEA44-9159-2923-FC97-D3169A7E4ADF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Software Engineering is Not Programming</a:t>
            </a:r>
          </a:p>
        </p:txBody>
      </p:sp>
    </p:spTree>
    <p:extLst>
      <p:ext uri="{BB962C8B-B14F-4D97-AF65-F5344CB8AC3E}">
        <p14:creationId xmlns:p14="http://schemas.microsoft.com/office/powerpoint/2010/main" val="3918630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B25A-FBEC-2AFF-14DB-F8FE55464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DD7BE3-E4BE-82CF-B7DF-4FD7C6F51A32}"/>
              </a:ext>
            </a:extLst>
          </p:cNvPr>
          <p:cNvSpPr txBox="1"/>
          <p:nvPr/>
        </p:nvSpPr>
        <p:spPr>
          <a:xfrm>
            <a:off x="1574358" y="2949934"/>
            <a:ext cx="8622873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97012E"/>
                </a:solidFill>
                <a:latin typeface="Druk Heavy"/>
              </a:rPr>
              <a:t>Software Fails because Humans Fail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Unclear or changing requirements (building the wrong system)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Poor system design or architectural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Inadequate testing and quality assurance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Ignoring non-functional requirements (scalability, reliability, security)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Human and process issues: communication, coordination, and handoffs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Accumulated technical debt and lack of maintenance</a:t>
            </a:r>
          </a:p>
          <a:p>
            <a:endParaRPr lang="en-US" sz="2200" dirty="0">
              <a:solidFill>
                <a:schemeClr val="bg1"/>
              </a:solidFill>
              <a:latin typeface="Oak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B50E5-E33A-C711-119D-B8A84A04CD6E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Why Software Systems Fail</a:t>
            </a:r>
          </a:p>
        </p:txBody>
      </p:sp>
    </p:spTree>
    <p:extLst>
      <p:ext uri="{BB962C8B-B14F-4D97-AF65-F5344CB8AC3E}">
        <p14:creationId xmlns:p14="http://schemas.microsoft.com/office/powerpoint/2010/main" val="4258125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14A95-1F5A-633A-233B-3E8081A3D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E8A656-54D8-D92A-9CCB-53F859347A26}"/>
              </a:ext>
            </a:extLst>
          </p:cNvPr>
          <p:cNvSpPr txBox="1"/>
          <p:nvPr/>
        </p:nvSpPr>
        <p:spPr>
          <a:xfrm>
            <a:off x="1574358" y="2949934"/>
            <a:ext cx="92525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3F3DE-32F3-90B5-353A-C8E7AA5D9BD6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What is Software Engineering?</a:t>
            </a:r>
          </a:p>
        </p:txBody>
      </p:sp>
    </p:spTree>
    <p:extLst>
      <p:ext uri="{BB962C8B-B14F-4D97-AF65-F5344CB8AC3E}">
        <p14:creationId xmlns:p14="http://schemas.microsoft.com/office/powerpoint/2010/main" val="4260659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588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638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6047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{B5A9200C-25AD-8243-91C6-9E230CEB9DC7}tf16401378</Template>
  <TotalTime>274</TotalTime>
  <Words>426</Words>
  <Application>Microsoft Office PowerPoint</Application>
  <PresentationFormat>Widescreen</PresentationFormat>
  <Paragraphs>63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Druk Heavy</vt:lpstr>
      <vt:lpstr>Garamond</vt:lpstr>
      <vt:lpstr>Oak Sans</vt:lpstr>
      <vt:lpstr>Wingdings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Thomas, Steve</dc:creator>
  <cp:lastModifiedBy>Ralph Rostock</cp:lastModifiedBy>
  <cp:revision>5</cp:revision>
  <dcterms:created xsi:type="dcterms:W3CDTF">2024-01-23T15:16:37Z</dcterms:created>
  <dcterms:modified xsi:type="dcterms:W3CDTF">2026-01-24T23:01:37Z</dcterms:modified>
</cp:coreProperties>
</file>